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DM Sans Bold" charset="1" panose="00000000000000000000"/>
      <p:regular r:id="rId19"/>
    </p:embeddedFont>
    <p:embeddedFont>
      <p:font typeface="Canva Sans Bold" charset="1" panose="020B0803030501040103"/>
      <p:regular r:id="rId20"/>
    </p:embeddedFont>
    <p:embeddedFont>
      <p:font typeface="DM Sans" charset="1" panose="00000000000000000000"/>
      <p:regular r:id="rId21"/>
    </p:embeddedFont>
    <p:embeddedFont>
      <p:font typeface="Canva Sans" charset="1" panose="020B05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36405" y="1431348"/>
            <a:ext cx="11461452" cy="2980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14"/>
              </a:lnSpc>
            </a:pPr>
            <a:r>
              <a:rPr lang="en-US" b="true" sz="10965">
                <a:solidFill>
                  <a:srgbClr val="235396"/>
                </a:solidFill>
                <a:latin typeface="DM Sans Bold"/>
                <a:ea typeface="DM Sans Bold"/>
                <a:cs typeface="DM Sans Bold"/>
                <a:sym typeface="DM Sans Bold"/>
              </a:rPr>
              <a:t>INTERNSHIP PRESENTATION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845220" y="2563984"/>
            <a:ext cx="8905273" cy="7792114"/>
          </a:xfrm>
          <a:custGeom>
            <a:avLst/>
            <a:gdLst/>
            <a:ahLst/>
            <a:cxnLst/>
            <a:rect r="r" b="b" t="t" l="l"/>
            <a:pathLst>
              <a:path h="7792114" w="8905273">
                <a:moveTo>
                  <a:pt x="0" y="0"/>
                </a:moveTo>
                <a:lnTo>
                  <a:pt x="8905274" y="0"/>
                </a:lnTo>
                <a:lnTo>
                  <a:pt x="8905274" y="7792114"/>
                </a:lnTo>
                <a:lnTo>
                  <a:pt x="0" y="77921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950967" y="3653328"/>
            <a:ext cx="1119222" cy="111922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3539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7420" lIns="57420" bIns="57420" rIns="57420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836405" y="7790718"/>
            <a:ext cx="3358820" cy="555732"/>
          </a:xfrm>
          <a:custGeom>
            <a:avLst/>
            <a:gdLst/>
            <a:ahLst/>
            <a:cxnLst/>
            <a:rect r="r" b="b" t="t" l="l"/>
            <a:pathLst>
              <a:path h="555732" w="3358820">
                <a:moveTo>
                  <a:pt x="0" y="0"/>
                </a:moveTo>
                <a:lnTo>
                  <a:pt x="3358821" y="0"/>
                </a:lnTo>
                <a:lnTo>
                  <a:pt x="3358821" y="555732"/>
                </a:lnTo>
                <a:lnTo>
                  <a:pt x="0" y="555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949221" y="1651620"/>
            <a:ext cx="3358820" cy="555732"/>
          </a:xfrm>
          <a:custGeom>
            <a:avLst/>
            <a:gdLst/>
            <a:ahLst/>
            <a:cxnLst/>
            <a:rect r="r" b="b" t="t" l="l"/>
            <a:pathLst>
              <a:path h="555732" w="3358820">
                <a:moveTo>
                  <a:pt x="0" y="0"/>
                </a:moveTo>
                <a:lnTo>
                  <a:pt x="3358821" y="0"/>
                </a:lnTo>
                <a:lnTo>
                  <a:pt x="3358821" y="555732"/>
                </a:lnTo>
                <a:lnTo>
                  <a:pt x="0" y="555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0"/>
            <a:ext cx="18288000" cy="10356098"/>
          </a:xfrm>
          <a:custGeom>
            <a:avLst/>
            <a:gdLst/>
            <a:ahLst/>
            <a:cxnLst/>
            <a:rect r="r" b="b" t="t" l="l"/>
            <a:pathLst>
              <a:path h="10356098" w="18288000">
                <a:moveTo>
                  <a:pt x="0" y="0"/>
                </a:moveTo>
                <a:lnTo>
                  <a:pt x="18288000" y="0"/>
                </a:lnTo>
                <a:lnTo>
                  <a:pt x="18288000" y="10356098"/>
                </a:lnTo>
                <a:lnTo>
                  <a:pt x="0" y="103560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491" r="0" b="-4491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368818" y="7973334"/>
            <a:ext cx="810510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3539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GREATER NOIDA, UP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5333" y="525269"/>
            <a:ext cx="11461452" cy="2980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10"/>
              </a:lnSpc>
            </a:pPr>
            <a:r>
              <a:rPr lang="en-US" sz="6200" b="true">
                <a:solidFill>
                  <a:srgbClr val="235396"/>
                </a:solidFill>
                <a:latin typeface="DM Sans Bold"/>
                <a:ea typeface="DM Sans Bold"/>
                <a:cs typeface="DM Sans Bold"/>
                <a:sym typeface="DM Sans Bold"/>
              </a:rPr>
              <a:t>CYBERSECURITY</a:t>
            </a:r>
          </a:p>
          <a:p>
            <a:pPr algn="l">
              <a:lnSpc>
                <a:spcPts val="6510"/>
              </a:lnSpc>
            </a:pPr>
            <a:r>
              <a:rPr lang="en-US" b="true" sz="6200">
                <a:solidFill>
                  <a:srgbClr val="235396"/>
                </a:solidFill>
                <a:latin typeface="DM Sans Bold"/>
                <a:ea typeface="DM Sans Bold"/>
                <a:cs typeface="DM Sans Bold"/>
                <a:sym typeface="DM Sans Bold"/>
              </a:rPr>
              <a:t>INTERNSHIP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635194" y="5502982"/>
            <a:ext cx="5041334" cy="4411167"/>
          </a:xfrm>
          <a:custGeom>
            <a:avLst/>
            <a:gdLst/>
            <a:ahLst/>
            <a:cxnLst/>
            <a:rect r="r" b="b" t="t" l="l"/>
            <a:pathLst>
              <a:path h="4411167" w="5041334">
                <a:moveTo>
                  <a:pt x="0" y="0"/>
                </a:moveTo>
                <a:lnTo>
                  <a:pt x="5041334" y="0"/>
                </a:lnTo>
                <a:lnTo>
                  <a:pt x="5041334" y="4411168"/>
                </a:lnTo>
                <a:lnTo>
                  <a:pt x="0" y="4411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00608" y="504191"/>
            <a:ext cx="3019941" cy="1863756"/>
          </a:xfrm>
          <a:custGeom>
            <a:avLst/>
            <a:gdLst/>
            <a:ahLst/>
            <a:cxnLst/>
            <a:rect r="r" b="b" t="t" l="l"/>
            <a:pathLst>
              <a:path h="1863756" w="3019941">
                <a:moveTo>
                  <a:pt x="0" y="0"/>
                </a:moveTo>
                <a:lnTo>
                  <a:pt x="3019940" y="0"/>
                </a:lnTo>
                <a:lnTo>
                  <a:pt x="3019940" y="1863756"/>
                </a:lnTo>
                <a:lnTo>
                  <a:pt x="0" y="1863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53755" y="3756371"/>
            <a:ext cx="9958591" cy="218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5"/>
              </a:lnSpc>
            </a:pPr>
            <a:r>
              <a:rPr lang="en-US" sz="4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 AND DEVELOPMENT OF CYBERSECURITY TOOLS AND SECURE APPLICATION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5333" y="7561264"/>
            <a:ext cx="5583348" cy="2352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6"/>
              </a:lnSpc>
            </a:pPr>
            <a:r>
              <a:rPr lang="en-US" b="true" sz="251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NAME: OM BHUSHAN</a:t>
            </a:r>
          </a:p>
          <a:p>
            <a:pPr algn="ctr">
              <a:lnSpc>
                <a:spcPts val="2636"/>
              </a:lnSpc>
            </a:pPr>
          </a:p>
          <a:p>
            <a:pPr algn="ctr">
              <a:lnSpc>
                <a:spcPts val="2636"/>
              </a:lnSpc>
            </a:pPr>
            <a:r>
              <a:rPr lang="en-US" b="true" sz="251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ROLL NUMBER: 25SCS1003000995</a:t>
            </a:r>
          </a:p>
          <a:p>
            <a:pPr algn="ctr">
              <a:lnSpc>
                <a:spcPts val="2636"/>
              </a:lnSpc>
            </a:pPr>
          </a:p>
          <a:p>
            <a:pPr algn="ctr">
              <a:lnSpc>
                <a:spcPts val="2636"/>
              </a:lnSpc>
            </a:pPr>
            <a:r>
              <a:rPr lang="en-US" b="true" sz="251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BTECH - 3</a:t>
            </a:r>
            <a:r>
              <a:rPr lang="en-US" b="true" sz="251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RD</a:t>
            </a:r>
            <a:r>
              <a:rPr lang="en-US" b="true" sz="251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SEMESTER-2CSE20</a:t>
            </a:r>
          </a:p>
          <a:p>
            <a:pPr algn="ctr">
              <a:lnSpc>
                <a:spcPts val="2636"/>
              </a:lnSpc>
            </a:pPr>
          </a:p>
          <a:p>
            <a:pPr algn="ctr">
              <a:lnSpc>
                <a:spcPts val="2636"/>
              </a:lnSpc>
              <a:spcBef>
                <a:spcPct val="0"/>
              </a:spcBef>
            </a:pPr>
            <a:r>
              <a:rPr lang="en-US" b="true" sz="251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ORGANIZATION NAME: THIRANEX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12901" y="1866292"/>
            <a:ext cx="12436175" cy="1095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0"/>
              </a:lnSpc>
            </a:pPr>
            <a:r>
              <a:rPr lang="en-US" b="true" sz="5800">
                <a:solidFill>
                  <a:srgbClr val="235396"/>
                </a:solidFill>
                <a:latin typeface="DM Sans Bold"/>
                <a:ea typeface="DM Sans Bold"/>
                <a:cs typeface="DM Sans Bold"/>
                <a:sym typeface="DM Sans Bold"/>
              </a:rPr>
              <a:t>INTERNSHIP OVERVIEW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712901" y="7979276"/>
            <a:ext cx="3358820" cy="555732"/>
          </a:xfrm>
          <a:custGeom>
            <a:avLst/>
            <a:gdLst/>
            <a:ahLst/>
            <a:cxnLst/>
            <a:rect r="r" b="b" t="t" l="l"/>
            <a:pathLst>
              <a:path h="555732" w="3358820">
                <a:moveTo>
                  <a:pt x="0" y="0"/>
                </a:moveTo>
                <a:lnTo>
                  <a:pt x="3358821" y="0"/>
                </a:lnTo>
                <a:lnTo>
                  <a:pt x="3358821" y="555732"/>
                </a:lnTo>
                <a:lnTo>
                  <a:pt x="0" y="555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12901" y="3542531"/>
            <a:ext cx="15375850" cy="392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0"/>
              </a:lnSpc>
            </a:pPr>
            <a:r>
              <a:rPr lang="en-US" sz="279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Thiranex Cybersecurity Internship provided practical exposure to the field of cybersecurity and helped bridge the gap between theoretical knowledge and real-world applications.</a:t>
            </a:r>
          </a:p>
          <a:p>
            <a:pPr algn="just">
              <a:lnSpc>
                <a:spcPts val="3910"/>
              </a:lnSpc>
            </a:pPr>
            <a:r>
              <a:rPr lang="en-US" sz="279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During the internship, I worked on cybersecurity-related tasks and projects that helped me understand how security concepts are applied while developing and analyzing applications.</a:t>
            </a:r>
          </a:p>
          <a:p>
            <a:pPr algn="just">
              <a:lnSpc>
                <a:spcPts val="3910"/>
              </a:lnSpc>
            </a:pPr>
          </a:p>
          <a:p>
            <a:pPr algn="just">
              <a:lnSpc>
                <a:spcPts val="391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11323" y="8117573"/>
            <a:ext cx="1825863" cy="1296363"/>
          </a:xfrm>
          <a:custGeom>
            <a:avLst/>
            <a:gdLst/>
            <a:ahLst/>
            <a:cxnLst/>
            <a:rect r="r" b="b" t="t" l="l"/>
            <a:pathLst>
              <a:path h="1296363" w="1825863">
                <a:moveTo>
                  <a:pt x="0" y="0"/>
                </a:moveTo>
                <a:lnTo>
                  <a:pt x="1825863" y="0"/>
                </a:lnTo>
                <a:lnTo>
                  <a:pt x="1825863" y="1296362"/>
                </a:lnTo>
                <a:lnTo>
                  <a:pt x="0" y="12963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2775" y="1521457"/>
            <a:ext cx="15154411" cy="1095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0"/>
              </a:lnSpc>
            </a:pPr>
            <a:r>
              <a:rPr lang="en-US" b="true" sz="5800">
                <a:solidFill>
                  <a:srgbClr val="235396"/>
                </a:solidFill>
                <a:latin typeface="DM Sans Bold"/>
                <a:ea typeface="DM Sans Bold"/>
                <a:cs typeface="DM Sans Bold"/>
                <a:sym typeface="DM Sans Bold"/>
              </a:rPr>
              <a:t>COMPANY PROFILE: THIRANEX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98795" y="3767104"/>
            <a:ext cx="15890410" cy="468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3795" indent="-426898" lvl="1">
              <a:lnSpc>
                <a:spcPts val="2620"/>
              </a:lnSpc>
              <a:buFont typeface="Arial"/>
              <a:buChar char="•"/>
            </a:pPr>
            <a:r>
              <a:rPr lang="en-US" b="true" sz="2500">
                <a:solidFill>
                  <a:srgbClr val="235396"/>
                </a:solidFill>
                <a:latin typeface="DM Sans Bold"/>
                <a:ea typeface="DM Sans Bold"/>
                <a:cs typeface="DM Sans Bold"/>
                <a:sym typeface="DM Sans Bold"/>
              </a:rPr>
              <a:t>THIRANEX PROVIDES PRACTICAL AND INDUSTRY-ORIENTED INTERNSHIP OPPORTUNITIES FOR STUDENTS.</a:t>
            </a:r>
          </a:p>
          <a:p>
            <a:pPr algn="l" marL="853795" indent="-426898" lvl="1">
              <a:lnSpc>
                <a:spcPts val="2620"/>
              </a:lnSpc>
              <a:buFont typeface="Arial"/>
              <a:buChar char="•"/>
            </a:pPr>
            <a:r>
              <a:rPr lang="en-US" b="true" sz="2500">
                <a:solidFill>
                  <a:srgbClr val="235396"/>
                </a:solidFill>
                <a:latin typeface="DM Sans Bold"/>
                <a:ea typeface="DM Sans Bold"/>
                <a:cs typeface="DM Sans Bold"/>
                <a:sym typeface="DM Sans Bold"/>
              </a:rPr>
              <a:t>IT FOCUSES ON PROJECT-BASED LEARNING AND TECHNICAL SKILL DEVELOPMENT.</a:t>
            </a:r>
          </a:p>
          <a:p>
            <a:pPr algn="l" marL="853795" indent="-426898" lvl="1">
              <a:lnSpc>
                <a:spcPts val="2620"/>
              </a:lnSpc>
              <a:buFont typeface="Arial"/>
              <a:buChar char="•"/>
            </a:pPr>
            <a:r>
              <a:rPr lang="en-US" b="true" sz="2500">
                <a:solidFill>
                  <a:srgbClr val="235396"/>
                </a:solidFill>
                <a:latin typeface="DM Sans Bold"/>
                <a:ea typeface="DM Sans Bold"/>
                <a:cs typeface="DM Sans Bold"/>
                <a:sym typeface="DM Sans Bold"/>
              </a:rPr>
              <a:t>STUDENTS GET EXPOSURE TO DIFFERENT TECHNOLOGY DOMAINS.</a:t>
            </a:r>
          </a:p>
          <a:p>
            <a:pPr algn="l" marL="853795" indent="-426898" lvl="1">
              <a:lnSpc>
                <a:spcPts val="2620"/>
              </a:lnSpc>
              <a:buFont typeface="Arial"/>
              <a:buChar char="•"/>
            </a:pPr>
            <a:r>
              <a:rPr lang="en-US" b="true" sz="2500">
                <a:solidFill>
                  <a:srgbClr val="235396"/>
                </a:solidFill>
                <a:latin typeface="DM Sans Bold"/>
                <a:ea typeface="DM Sans Bold"/>
                <a:cs typeface="DM Sans Bold"/>
                <a:sym typeface="DM Sans Bold"/>
              </a:rPr>
              <a:t>INTERNSHIP ACTIVITIES HELP CONNECT ACADEMIC KNOWLEDGE WITH PRACTICAL APPLICATIONS.</a:t>
            </a:r>
          </a:p>
          <a:p>
            <a:pPr algn="l" marL="853795" indent="-426898" lvl="1">
              <a:lnSpc>
                <a:spcPts val="2620"/>
              </a:lnSpc>
              <a:buFont typeface="Arial"/>
              <a:buChar char="•"/>
            </a:pPr>
            <a:r>
              <a:rPr lang="en-US" b="true" sz="2500">
                <a:solidFill>
                  <a:srgbClr val="235396"/>
                </a:solidFill>
                <a:latin typeface="DM Sans Bold"/>
                <a:ea typeface="DM Sans Bold"/>
                <a:cs typeface="DM Sans Bold"/>
                <a:sym typeface="DM Sans Bold"/>
              </a:rPr>
              <a:t>MY INTERNSHIP DOMAIN WAS CYBERSECURITY.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12901" y="1866292"/>
            <a:ext cx="13715801" cy="1095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0"/>
              </a:lnSpc>
            </a:pPr>
            <a:r>
              <a:rPr lang="en-US" b="true" sz="5800">
                <a:solidFill>
                  <a:srgbClr val="235396"/>
                </a:solidFill>
                <a:latin typeface="DM Sans Bold"/>
                <a:ea typeface="DM Sans Bold"/>
                <a:cs typeface="DM Sans Bold"/>
                <a:sym typeface="DM Sans Bold"/>
              </a:rPr>
              <a:t>INTERNSHIP OBJECTIVES: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878052"/>
            <a:ext cx="17049563" cy="4328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8379" indent="-394189" lvl="1">
              <a:lnSpc>
                <a:spcPts val="3834"/>
              </a:lnSpc>
              <a:buFont typeface="Arial"/>
              <a:buChar char="•"/>
            </a:pPr>
            <a:r>
              <a:rPr lang="en-US" sz="36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UNDERSTAND FUNDAMENTAL CYBERSECURITY CONCEPTS.</a:t>
            </a:r>
          </a:p>
          <a:p>
            <a:pPr algn="l" marL="788379" indent="-394189" lvl="1">
              <a:lnSpc>
                <a:spcPts val="3834"/>
              </a:lnSpc>
              <a:buFont typeface="Arial"/>
              <a:buChar char="•"/>
            </a:pPr>
            <a:r>
              <a:rPr lang="en-US" sz="36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DESIGN AND DEVELOP BASIC CYBERSECURITY TOOLS.</a:t>
            </a:r>
          </a:p>
          <a:p>
            <a:pPr algn="l" marL="788379" indent="-394189" lvl="1">
              <a:lnSpc>
                <a:spcPts val="3834"/>
              </a:lnSpc>
              <a:buFont typeface="Arial"/>
              <a:buChar char="•"/>
            </a:pPr>
            <a:r>
              <a:rPr lang="en-US" sz="36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DEVELOP APPLICATIONS WITH SECURITY CONSIDERATIONS.</a:t>
            </a:r>
          </a:p>
          <a:p>
            <a:pPr algn="l" marL="788379" indent="-394189" lvl="1">
              <a:lnSpc>
                <a:spcPts val="3834"/>
              </a:lnSpc>
              <a:buFont typeface="Arial"/>
              <a:buChar char="•"/>
            </a:pPr>
            <a:r>
              <a:rPr lang="en-US" sz="36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UNDERSTAND COMMON THREATS SUCH AS PHISHING AND WEAK PASSWORDS.</a:t>
            </a:r>
          </a:p>
          <a:p>
            <a:pPr algn="l" marL="788379" indent="-394189" lvl="1">
              <a:lnSpc>
                <a:spcPts val="3834"/>
              </a:lnSpc>
              <a:buFont typeface="Arial"/>
              <a:buChar char="•"/>
            </a:pPr>
            <a:r>
              <a:rPr lang="en-US" sz="36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IMPROVE PYTHON PROGRAMMING AND DEBUGGING SKILLS.</a:t>
            </a:r>
          </a:p>
          <a:p>
            <a:pPr algn="l" marL="788379" indent="-394189" lvl="1">
              <a:lnSpc>
                <a:spcPts val="3834"/>
              </a:lnSpc>
              <a:buFont typeface="Arial"/>
              <a:buChar char="•"/>
            </a:pPr>
            <a:r>
              <a:rPr lang="en-US" sz="36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GAIN PRACTICAL EXPERIENCE IN TESTING AND PROBLEM-SOLVING.</a:t>
            </a:r>
          </a:p>
          <a:p>
            <a:pPr algn="l" marL="788379" indent="-394189" lvl="1">
              <a:lnSpc>
                <a:spcPts val="3834"/>
              </a:lnSpc>
              <a:buFont typeface="Arial"/>
              <a:buChar char="•"/>
            </a:pPr>
            <a:r>
              <a:rPr lang="en-US" sz="36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LEARN PROFESSIONAL PROJECT DOCUMENTATION USING GITHUB.</a:t>
            </a:r>
          </a:p>
          <a:p>
            <a:pPr algn="l">
              <a:lnSpc>
                <a:spcPts val="383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358820" cy="555732"/>
          </a:xfrm>
          <a:custGeom>
            <a:avLst/>
            <a:gdLst/>
            <a:ahLst/>
            <a:cxnLst/>
            <a:rect r="r" b="b" t="t" l="l"/>
            <a:pathLst>
              <a:path h="555732" w="3358820">
                <a:moveTo>
                  <a:pt x="0" y="0"/>
                </a:moveTo>
                <a:lnTo>
                  <a:pt x="3358820" y="0"/>
                </a:lnTo>
                <a:lnTo>
                  <a:pt x="3358820" y="555732"/>
                </a:lnTo>
                <a:lnTo>
                  <a:pt x="0" y="555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51090" y="555813"/>
            <a:ext cx="9000504" cy="193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b="true" sz="5000">
                <a:solidFill>
                  <a:srgbClr val="235396"/>
                </a:solidFill>
                <a:latin typeface="DM Sans Bold"/>
                <a:ea typeface="DM Sans Bold"/>
                <a:cs typeface="DM Sans Bold"/>
                <a:sym typeface="DM Sans Bold"/>
              </a:rPr>
              <a:t>INTRODUCTION TO CYBERSECURITY: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29279" y="2446997"/>
            <a:ext cx="13972700" cy="5887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5"/>
              </a:lnSpc>
            </a:pPr>
          </a:p>
          <a:p>
            <a:pPr algn="l">
              <a:lnSpc>
                <a:spcPts val="3885"/>
              </a:lnSpc>
            </a:pPr>
            <a:r>
              <a:rPr lang="en-US" sz="277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Cybersecurity is the practice of protecting computers, networks, applications, and data from unauthorized access, attacks, damage, or theft.</a:t>
            </a:r>
          </a:p>
          <a:p>
            <a:pPr algn="l">
              <a:lnSpc>
                <a:spcPts val="3885"/>
              </a:lnSpc>
            </a:pPr>
          </a:p>
          <a:p>
            <a:pPr algn="l">
              <a:lnSpc>
                <a:spcPts val="3885"/>
              </a:lnSpc>
            </a:pPr>
            <a:r>
              <a:rPr lang="en-US" sz="277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Main Security Goals:</a:t>
            </a:r>
          </a:p>
          <a:p>
            <a:pPr algn="l">
              <a:lnSpc>
                <a:spcPts val="3885"/>
              </a:lnSpc>
            </a:pPr>
            <a:r>
              <a:rPr lang="en-US" sz="277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Confidentiality → Protect information from unauthorized access</a:t>
            </a:r>
          </a:p>
          <a:p>
            <a:pPr algn="l">
              <a:lnSpc>
                <a:spcPts val="3885"/>
              </a:lnSpc>
            </a:pPr>
            <a:r>
              <a:rPr lang="en-US" sz="277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Integrity → Prevent unauthorized modification of data</a:t>
            </a:r>
          </a:p>
          <a:p>
            <a:pPr algn="l">
              <a:lnSpc>
                <a:spcPts val="3885"/>
              </a:lnSpc>
            </a:pPr>
            <a:r>
              <a:rPr lang="en-US" sz="277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Availability → Ensure systems and data remain accessible</a:t>
            </a:r>
          </a:p>
          <a:p>
            <a:pPr algn="l">
              <a:lnSpc>
                <a:spcPts val="3885"/>
              </a:lnSpc>
            </a:pPr>
          </a:p>
          <a:p>
            <a:pPr algn="l">
              <a:lnSpc>
                <a:spcPts val="3885"/>
              </a:lnSpc>
            </a:pPr>
            <a:r>
              <a:rPr lang="en-US" sz="27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</a:t>
            </a:r>
          </a:p>
          <a:p>
            <a:pPr algn="l">
              <a:lnSpc>
                <a:spcPts val="3885"/>
              </a:lnSpc>
            </a:pPr>
            <a:r>
              <a:rPr lang="en-US" sz="27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</a:t>
            </a:r>
          </a:p>
          <a:p>
            <a:pPr algn="l">
              <a:lnSpc>
                <a:spcPts val="388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8615629" y="6003571"/>
            <a:ext cx="9135071" cy="355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7"/>
              </a:lnSpc>
            </a:pPr>
            <a:r>
              <a:rPr lang="en-US" sz="222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CYBERSECURITY</a:t>
            </a:r>
          </a:p>
          <a:p>
            <a:pPr algn="ctr">
              <a:lnSpc>
                <a:spcPts val="3117"/>
              </a:lnSpc>
            </a:pPr>
            <a:r>
              <a:rPr lang="en-US" sz="222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│</a:t>
            </a:r>
          </a:p>
          <a:p>
            <a:pPr algn="ctr">
              <a:lnSpc>
                <a:spcPts val="3117"/>
              </a:lnSpc>
            </a:pPr>
            <a:r>
              <a:rPr lang="en-US" sz="222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┌────────────┼────────────┐</a:t>
            </a:r>
          </a:p>
          <a:p>
            <a:pPr algn="ctr">
              <a:lnSpc>
                <a:spcPts val="3117"/>
              </a:lnSpc>
            </a:pPr>
            <a:r>
              <a:rPr lang="en-US" sz="222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↓            ↓            ↓</a:t>
            </a:r>
          </a:p>
          <a:p>
            <a:pPr algn="ctr">
              <a:lnSpc>
                <a:spcPts val="3117"/>
              </a:lnSpc>
            </a:pPr>
            <a:r>
              <a:rPr lang="en-US" sz="222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Confidentiality  Integrity  Availability</a:t>
            </a:r>
          </a:p>
          <a:p>
            <a:pPr algn="ctr">
              <a:lnSpc>
                <a:spcPts val="3117"/>
              </a:lnSpc>
            </a:pPr>
            <a:r>
              <a:rPr lang="en-US" sz="222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│            │            │</a:t>
            </a:r>
          </a:p>
          <a:p>
            <a:pPr algn="ctr">
              <a:lnSpc>
                <a:spcPts val="3117"/>
              </a:lnSpc>
            </a:pPr>
            <a:r>
              <a:rPr lang="en-US" sz="222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└────────────┼────────────┘</a:t>
            </a:r>
          </a:p>
          <a:p>
            <a:pPr algn="ctr">
              <a:lnSpc>
                <a:spcPts val="3117"/>
              </a:lnSpc>
            </a:pPr>
            <a:r>
              <a:rPr lang="en-US" sz="222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↓</a:t>
            </a:r>
          </a:p>
          <a:p>
            <a:pPr algn="ctr">
              <a:lnSpc>
                <a:spcPts val="3117"/>
              </a:lnSpc>
            </a:pPr>
            <a:r>
              <a:rPr lang="en-US" sz="222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SECURE SYSTEM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644561"/>
            <a:ext cx="15987256" cy="7180086"/>
            <a:chOff x="0" y="0"/>
            <a:chExt cx="4210635" cy="18910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0635" cy="1891052"/>
            </a:xfrm>
            <a:custGeom>
              <a:avLst/>
              <a:gdLst/>
              <a:ahLst/>
              <a:cxnLst/>
              <a:rect r="r" b="b" t="t" l="l"/>
              <a:pathLst>
                <a:path h="1891052" w="4210635">
                  <a:moveTo>
                    <a:pt x="30992" y="0"/>
                  </a:moveTo>
                  <a:lnTo>
                    <a:pt x="4179643" y="0"/>
                  </a:lnTo>
                  <a:cubicBezTo>
                    <a:pt x="4196759" y="0"/>
                    <a:pt x="4210635" y="13876"/>
                    <a:pt x="4210635" y="30992"/>
                  </a:cubicBezTo>
                  <a:lnTo>
                    <a:pt x="4210635" y="1860059"/>
                  </a:lnTo>
                  <a:cubicBezTo>
                    <a:pt x="4210635" y="1877176"/>
                    <a:pt x="4196759" y="1891052"/>
                    <a:pt x="4179643" y="1891052"/>
                  </a:cubicBezTo>
                  <a:lnTo>
                    <a:pt x="30992" y="1891052"/>
                  </a:lnTo>
                  <a:cubicBezTo>
                    <a:pt x="13876" y="1891052"/>
                    <a:pt x="0" y="1877176"/>
                    <a:pt x="0" y="1860059"/>
                  </a:cubicBezTo>
                  <a:lnTo>
                    <a:pt x="0" y="30992"/>
                  </a:lnTo>
                  <a:cubicBezTo>
                    <a:pt x="0" y="13876"/>
                    <a:pt x="13876" y="0"/>
                    <a:pt x="30992" y="0"/>
                  </a:cubicBezTo>
                  <a:close/>
                </a:path>
              </a:pathLst>
            </a:custGeom>
            <a:solidFill>
              <a:srgbClr val="23539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0635" cy="1929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12901" y="509668"/>
            <a:ext cx="15135343" cy="150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4"/>
              </a:lnSpc>
            </a:pPr>
            <a:r>
              <a:rPr lang="en-US" b="true" sz="5585">
                <a:solidFill>
                  <a:srgbClr val="235396"/>
                </a:solidFill>
                <a:latin typeface="DM Sans Bold"/>
                <a:ea typeface="DM Sans Bold"/>
                <a:cs typeface="DM Sans Bold"/>
                <a:sym typeface="DM Sans Bold"/>
              </a:rPr>
              <a:t>CYBERSECURITY TOOLS &amp; SECURE APPLICATION: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0876" y="3527515"/>
            <a:ext cx="7225887" cy="3564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</a:p>
          <a:p>
            <a:pPr algn="l">
              <a:lnSpc>
                <a:spcPts val="3561"/>
              </a:lnSpc>
            </a:pPr>
            <a:r>
              <a:rPr lang="en-US" sz="254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Cybersecurity Tools:</a:t>
            </a:r>
          </a:p>
          <a:p>
            <a:pPr algn="l" marL="549245" indent="-274622" lvl="1">
              <a:lnSpc>
                <a:spcPts val="3561"/>
              </a:lnSpc>
              <a:buFont typeface="Arial"/>
              <a:buChar char="•"/>
            </a:pPr>
            <a:r>
              <a:rPr lang="en-US" b="true" sz="254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Tools help identify, analyze, test, and protect systems.</a:t>
            </a:r>
          </a:p>
          <a:p>
            <a:pPr algn="l" marL="549245" indent="-274622" lvl="1">
              <a:lnSpc>
                <a:spcPts val="3561"/>
              </a:lnSpc>
              <a:buFont typeface="Arial"/>
              <a:buChar char="•"/>
            </a:pPr>
            <a:r>
              <a:rPr lang="en-US" b="true" sz="254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Examples include network analysis, vulnerability assessment, and security monitoring tools.</a:t>
            </a:r>
          </a:p>
          <a:p>
            <a:pPr algn="ctr">
              <a:lnSpc>
                <a:spcPts val="356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713742" y="3730921"/>
            <a:ext cx="7815200" cy="3553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5"/>
              </a:lnSpc>
            </a:pPr>
            <a:r>
              <a:rPr lang="en-US" sz="255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Secure Applications:</a:t>
            </a:r>
          </a:p>
          <a:p>
            <a:pPr algn="l" marL="551352" indent="-275676" lvl="1">
              <a:lnSpc>
                <a:spcPts val="3575"/>
              </a:lnSpc>
              <a:buFont typeface="Arial"/>
              <a:buChar char="•"/>
            </a:pPr>
            <a:r>
              <a:rPr lang="en-US" b="true" sz="255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secure application should:</a:t>
            </a:r>
          </a:p>
          <a:p>
            <a:pPr algn="l" marL="551352" indent="-275676" lvl="1">
              <a:lnSpc>
                <a:spcPts val="3575"/>
              </a:lnSpc>
              <a:buFont typeface="Arial"/>
              <a:buChar char="•"/>
            </a:pPr>
            <a:r>
              <a:rPr lang="en-US" b="true" sz="255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Validate user input.</a:t>
            </a:r>
          </a:p>
          <a:p>
            <a:pPr algn="l" marL="551352" indent="-275676" lvl="1">
              <a:lnSpc>
                <a:spcPts val="3575"/>
              </a:lnSpc>
              <a:buFont typeface="Arial"/>
              <a:buChar char="•"/>
            </a:pPr>
            <a:r>
              <a:rPr lang="en-US" b="true" sz="255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Protect sensitive information.</a:t>
            </a:r>
          </a:p>
          <a:p>
            <a:pPr algn="l" marL="551352" indent="-275676" lvl="1">
              <a:lnSpc>
                <a:spcPts val="3575"/>
              </a:lnSpc>
              <a:buFont typeface="Arial"/>
              <a:buChar char="•"/>
            </a:pPr>
            <a:r>
              <a:rPr lang="en-US" b="true" sz="255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 strong authentication.</a:t>
            </a:r>
          </a:p>
          <a:p>
            <a:pPr algn="l" marL="551352" indent="-275676" lvl="1">
              <a:lnSpc>
                <a:spcPts val="3575"/>
              </a:lnSpc>
              <a:buFont typeface="Arial"/>
              <a:buChar char="•"/>
            </a:pPr>
            <a:r>
              <a:rPr lang="en-US" b="true" sz="255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Handle errors safely.</a:t>
            </a:r>
          </a:p>
          <a:p>
            <a:pPr algn="l" marL="551352" indent="-275676" lvl="1">
              <a:lnSpc>
                <a:spcPts val="3575"/>
              </a:lnSpc>
              <a:buFont typeface="Arial"/>
              <a:buChar char="•"/>
            </a:pPr>
            <a:r>
              <a:rPr lang="en-US" b="true" sz="255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 tested for security weaknesses.</a:t>
            </a:r>
          </a:p>
          <a:p>
            <a:pPr algn="l">
              <a:lnSpc>
                <a:spcPts val="3575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92325"/>
            <a:ext cx="3358820" cy="555732"/>
          </a:xfrm>
          <a:custGeom>
            <a:avLst/>
            <a:gdLst/>
            <a:ahLst/>
            <a:cxnLst/>
            <a:rect r="r" b="b" t="t" l="l"/>
            <a:pathLst>
              <a:path h="555732" w="3358820">
                <a:moveTo>
                  <a:pt x="0" y="0"/>
                </a:moveTo>
                <a:lnTo>
                  <a:pt x="3358820" y="0"/>
                </a:lnTo>
                <a:lnTo>
                  <a:pt x="3358820" y="555732"/>
                </a:lnTo>
                <a:lnTo>
                  <a:pt x="0" y="555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72513" y="3061951"/>
            <a:ext cx="12089709" cy="1693230"/>
            <a:chOff x="0" y="0"/>
            <a:chExt cx="3184121" cy="4459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84121" cy="445953"/>
            </a:xfrm>
            <a:custGeom>
              <a:avLst/>
              <a:gdLst/>
              <a:ahLst/>
              <a:cxnLst/>
              <a:rect r="r" b="b" t="t" l="l"/>
              <a:pathLst>
                <a:path h="445953" w="3184121">
                  <a:moveTo>
                    <a:pt x="40984" y="0"/>
                  </a:moveTo>
                  <a:lnTo>
                    <a:pt x="3143137" y="0"/>
                  </a:lnTo>
                  <a:cubicBezTo>
                    <a:pt x="3165772" y="0"/>
                    <a:pt x="3184121" y="18349"/>
                    <a:pt x="3184121" y="40984"/>
                  </a:cubicBezTo>
                  <a:lnTo>
                    <a:pt x="3184121" y="404970"/>
                  </a:lnTo>
                  <a:cubicBezTo>
                    <a:pt x="3184121" y="427604"/>
                    <a:pt x="3165772" y="445953"/>
                    <a:pt x="3143137" y="445953"/>
                  </a:cubicBezTo>
                  <a:lnTo>
                    <a:pt x="40984" y="445953"/>
                  </a:lnTo>
                  <a:cubicBezTo>
                    <a:pt x="18349" y="445953"/>
                    <a:pt x="0" y="427604"/>
                    <a:pt x="0" y="404970"/>
                  </a:cubicBezTo>
                  <a:lnTo>
                    <a:pt x="0" y="40984"/>
                  </a:lnTo>
                  <a:cubicBezTo>
                    <a:pt x="0" y="18349"/>
                    <a:pt x="18349" y="0"/>
                    <a:pt x="40984" y="0"/>
                  </a:cubicBezTo>
                  <a:close/>
                </a:path>
              </a:pathLst>
            </a:custGeom>
            <a:solidFill>
              <a:srgbClr val="23539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184121" cy="48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2513" y="5052198"/>
            <a:ext cx="6044854" cy="4674923"/>
            <a:chOff x="0" y="0"/>
            <a:chExt cx="1592060" cy="12312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92060" cy="1231256"/>
            </a:xfrm>
            <a:custGeom>
              <a:avLst/>
              <a:gdLst/>
              <a:ahLst/>
              <a:cxnLst/>
              <a:rect r="r" b="b" t="t" l="l"/>
              <a:pathLst>
                <a:path h="1231256" w="1592060">
                  <a:moveTo>
                    <a:pt x="81968" y="0"/>
                  </a:moveTo>
                  <a:lnTo>
                    <a:pt x="1510093" y="0"/>
                  </a:lnTo>
                  <a:cubicBezTo>
                    <a:pt x="1531832" y="0"/>
                    <a:pt x="1552681" y="8636"/>
                    <a:pt x="1568053" y="24008"/>
                  </a:cubicBezTo>
                  <a:cubicBezTo>
                    <a:pt x="1583425" y="39380"/>
                    <a:pt x="1592060" y="60229"/>
                    <a:pt x="1592060" y="81968"/>
                  </a:cubicBezTo>
                  <a:lnTo>
                    <a:pt x="1592060" y="1149288"/>
                  </a:lnTo>
                  <a:cubicBezTo>
                    <a:pt x="1592060" y="1171027"/>
                    <a:pt x="1583425" y="1191876"/>
                    <a:pt x="1568053" y="1207248"/>
                  </a:cubicBezTo>
                  <a:cubicBezTo>
                    <a:pt x="1552681" y="1222620"/>
                    <a:pt x="1531832" y="1231256"/>
                    <a:pt x="1510093" y="1231256"/>
                  </a:cubicBezTo>
                  <a:lnTo>
                    <a:pt x="81968" y="1231256"/>
                  </a:lnTo>
                  <a:cubicBezTo>
                    <a:pt x="60229" y="1231256"/>
                    <a:pt x="39380" y="1222620"/>
                    <a:pt x="24008" y="1207248"/>
                  </a:cubicBezTo>
                  <a:cubicBezTo>
                    <a:pt x="8636" y="1191876"/>
                    <a:pt x="0" y="1171027"/>
                    <a:pt x="0" y="1149288"/>
                  </a:cubicBezTo>
                  <a:lnTo>
                    <a:pt x="0" y="81968"/>
                  </a:lnTo>
                  <a:cubicBezTo>
                    <a:pt x="0" y="60229"/>
                    <a:pt x="8636" y="39380"/>
                    <a:pt x="24008" y="24008"/>
                  </a:cubicBezTo>
                  <a:cubicBezTo>
                    <a:pt x="39380" y="8636"/>
                    <a:pt x="60229" y="0"/>
                    <a:pt x="81968" y="0"/>
                  </a:cubicBezTo>
                  <a:close/>
                </a:path>
              </a:pathLst>
            </a:custGeom>
            <a:solidFill>
              <a:srgbClr val="23539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92060" cy="1269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829583" y="5142808"/>
            <a:ext cx="9396688" cy="4423668"/>
            <a:chOff x="0" y="0"/>
            <a:chExt cx="2474848" cy="11650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74848" cy="1165081"/>
            </a:xfrm>
            <a:custGeom>
              <a:avLst/>
              <a:gdLst/>
              <a:ahLst/>
              <a:cxnLst/>
              <a:rect r="r" b="b" t="t" l="l"/>
              <a:pathLst>
                <a:path h="1165081" w="2474848">
                  <a:moveTo>
                    <a:pt x="52730" y="0"/>
                  </a:moveTo>
                  <a:lnTo>
                    <a:pt x="2422118" y="0"/>
                  </a:lnTo>
                  <a:cubicBezTo>
                    <a:pt x="2451240" y="0"/>
                    <a:pt x="2474848" y="23608"/>
                    <a:pt x="2474848" y="52730"/>
                  </a:cubicBezTo>
                  <a:lnTo>
                    <a:pt x="2474848" y="1112352"/>
                  </a:lnTo>
                  <a:cubicBezTo>
                    <a:pt x="2474848" y="1141474"/>
                    <a:pt x="2451240" y="1165081"/>
                    <a:pt x="2422118" y="1165081"/>
                  </a:cubicBezTo>
                  <a:lnTo>
                    <a:pt x="52730" y="1165081"/>
                  </a:lnTo>
                  <a:cubicBezTo>
                    <a:pt x="23608" y="1165081"/>
                    <a:pt x="0" y="1141474"/>
                    <a:pt x="0" y="1112352"/>
                  </a:cubicBezTo>
                  <a:lnTo>
                    <a:pt x="0" y="52730"/>
                  </a:lnTo>
                  <a:cubicBezTo>
                    <a:pt x="0" y="23608"/>
                    <a:pt x="23608" y="0"/>
                    <a:pt x="52730" y="0"/>
                  </a:cubicBezTo>
                  <a:close/>
                </a:path>
              </a:pathLst>
            </a:custGeom>
            <a:solidFill>
              <a:srgbClr val="23539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74848" cy="1203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229915" y="1287575"/>
            <a:ext cx="12513186" cy="1572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2"/>
              </a:lnSpc>
            </a:pPr>
            <a:r>
              <a:rPr lang="en-US" b="true" sz="5878">
                <a:solidFill>
                  <a:srgbClr val="235396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1: PHISHING EMAIL DETECTION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62502" y="3194885"/>
            <a:ext cx="9688586" cy="1631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4"/>
              </a:lnSpc>
            </a:pPr>
            <a:r>
              <a:rPr lang="en-US" b="true" sz="2696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Objective:</a:t>
            </a:r>
          </a:p>
          <a:p>
            <a:pPr algn="just">
              <a:lnSpc>
                <a:spcPts val="3494"/>
              </a:lnSpc>
            </a:pPr>
            <a:r>
              <a:rPr lang="en-US" sz="24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identify whether an email is Phishing or Safe based on its content and characteristics.</a:t>
            </a:r>
          </a:p>
          <a:p>
            <a:pPr algn="just">
              <a:lnSpc>
                <a:spcPts val="223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-2575881" y="5290846"/>
            <a:ext cx="12985913" cy="415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9"/>
              </a:lnSpc>
            </a:pPr>
            <a:r>
              <a:rPr lang="en-US" b="true" sz="2814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Working:</a:t>
            </a:r>
          </a:p>
          <a:p>
            <a:pPr algn="ctr">
              <a:lnSpc>
                <a:spcPts val="2679"/>
              </a:lnSpc>
            </a:pPr>
            <a:r>
              <a:rPr lang="en-US" sz="19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EMAIL INPUT</a:t>
            </a:r>
          </a:p>
          <a:p>
            <a:pPr algn="ctr">
              <a:lnSpc>
                <a:spcPts val="2679"/>
              </a:lnSpc>
            </a:pPr>
            <a:r>
              <a:rPr lang="en-US" sz="19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↓</a:t>
            </a:r>
          </a:p>
          <a:p>
            <a:pPr algn="ctr">
              <a:lnSpc>
                <a:spcPts val="2679"/>
              </a:lnSpc>
            </a:pPr>
            <a:r>
              <a:rPr lang="en-US" sz="19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Text Preprocessing</a:t>
            </a:r>
          </a:p>
          <a:p>
            <a:pPr algn="ctr">
              <a:lnSpc>
                <a:spcPts val="2679"/>
              </a:lnSpc>
            </a:pPr>
            <a:r>
              <a:rPr lang="en-US" sz="19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↓</a:t>
            </a:r>
          </a:p>
          <a:p>
            <a:pPr algn="ctr">
              <a:lnSpc>
                <a:spcPts val="2679"/>
              </a:lnSpc>
            </a:pPr>
            <a:r>
              <a:rPr lang="en-US" sz="19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Feature Extraction</a:t>
            </a:r>
          </a:p>
          <a:p>
            <a:pPr algn="ctr">
              <a:lnSpc>
                <a:spcPts val="2679"/>
              </a:lnSpc>
            </a:pPr>
            <a:r>
              <a:rPr lang="en-US" sz="19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↓</a:t>
            </a:r>
          </a:p>
          <a:p>
            <a:pPr algn="ctr">
              <a:lnSpc>
                <a:spcPts val="2679"/>
              </a:lnSpc>
            </a:pPr>
            <a:r>
              <a:rPr lang="en-US" sz="19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ML Classification</a:t>
            </a:r>
          </a:p>
          <a:p>
            <a:pPr algn="ctr">
              <a:lnSpc>
                <a:spcPts val="2679"/>
              </a:lnSpc>
            </a:pPr>
            <a:r>
              <a:rPr lang="en-US" sz="19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↓</a:t>
            </a:r>
          </a:p>
          <a:p>
            <a:pPr algn="ctr">
              <a:lnSpc>
                <a:spcPts val="2679"/>
              </a:lnSpc>
            </a:pPr>
            <a:r>
              <a:rPr lang="en-US" sz="19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┌─────┴─────┐</a:t>
            </a:r>
          </a:p>
          <a:p>
            <a:pPr algn="ctr">
              <a:lnSpc>
                <a:spcPts val="2679"/>
              </a:lnSpc>
            </a:pPr>
            <a:r>
              <a:rPr lang="en-US" sz="19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↓           ↓</a:t>
            </a:r>
          </a:p>
          <a:p>
            <a:pPr algn="ctr">
              <a:lnSpc>
                <a:spcPts val="2679"/>
              </a:lnSpc>
            </a:pPr>
            <a:r>
              <a:rPr lang="en-US" sz="19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PHISHING       SAFE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63325" y="5374609"/>
            <a:ext cx="7175525" cy="3181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Learning</a:t>
            </a:r>
          </a:p>
          <a:p>
            <a:pPr algn="ctr" marL="647711" indent="-323856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Understanding phishing indicators.</a:t>
            </a:r>
          </a:p>
          <a:p>
            <a:pPr algn="ctr" marL="647711" indent="-323856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Text preprocessing.</a:t>
            </a:r>
          </a:p>
          <a:p>
            <a:pPr algn="ctr" marL="647711" indent="-323856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Basic machine-learning workflow.</a:t>
            </a:r>
          </a:p>
          <a:p>
            <a:pPr algn="ctr" marL="647711" indent="-323856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Classification and result analysis.</a:t>
            </a:r>
          </a:p>
          <a:p>
            <a:pPr algn="ctr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92325"/>
            <a:ext cx="3358820" cy="555732"/>
          </a:xfrm>
          <a:custGeom>
            <a:avLst/>
            <a:gdLst/>
            <a:ahLst/>
            <a:cxnLst/>
            <a:rect r="r" b="b" t="t" l="l"/>
            <a:pathLst>
              <a:path h="555732" w="3358820">
                <a:moveTo>
                  <a:pt x="0" y="0"/>
                </a:moveTo>
                <a:lnTo>
                  <a:pt x="3358820" y="0"/>
                </a:lnTo>
                <a:lnTo>
                  <a:pt x="3358820" y="555732"/>
                </a:lnTo>
                <a:lnTo>
                  <a:pt x="0" y="555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72513" y="3061951"/>
            <a:ext cx="12089709" cy="1693230"/>
            <a:chOff x="0" y="0"/>
            <a:chExt cx="3184121" cy="4459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84121" cy="445953"/>
            </a:xfrm>
            <a:custGeom>
              <a:avLst/>
              <a:gdLst/>
              <a:ahLst/>
              <a:cxnLst/>
              <a:rect r="r" b="b" t="t" l="l"/>
              <a:pathLst>
                <a:path h="445953" w="3184121">
                  <a:moveTo>
                    <a:pt x="40984" y="0"/>
                  </a:moveTo>
                  <a:lnTo>
                    <a:pt x="3143137" y="0"/>
                  </a:lnTo>
                  <a:cubicBezTo>
                    <a:pt x="3165772" y="0"/>
                    <a:pt x="3184121" y="18349"/>
                    <a:pt x="3184121" y="40984"/>
                  </a:cubicBezTo>
                  <a:lnTo>
                    <a:pt x="3184121" y="404970"/>
                  </a:lnTo>
                  <a:cubicBezTo>
                    <a:pt x="3184121" y="427604"/>
                    <a:pt x="3165772" y="445953"/>
                    <a:pt x="3143137" y="445953"/>
                  </a:cubicBezTo>
                  <a:lnTo>
                    <a:pt x="40984" y="445953"/>
                  </a:lnTo>
                  <a:cubicBezTo>
                    <a:pt x="18349" y="445953"/>
                    <a:pt x="0" y="427604"/>
                    <a:pt x="0" y="404970"/>
                  </a:cubicBezTo>
                  <a:lnTo>
                    <a:pt x="0" y="40984"/>
                  </a:lnTo>
                  <a:cubicBezTo>
                    <a:pt x="0" y="18349"/>
                    <a:pt x="18349" y="0"/>
                    <a:pt x="40984" y="0"/>
                  </a:cubicBezTo>
                  <a:close/>
                </a:path>
              </a:pathLst>
            </a:custGeom>
            <a:solidFill>
              <a:srgbClr val="23539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184121" cy="48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2513" y="5052198"/>
            <a:ext cx="6044854" cy="4674923"/>
            <a:chOff x="0" y="0"/>
            <a:chExt cx="1592060" cy="12312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92060" cy="1231256"/>
            </a:xfrm>
            <a:custGeom>
              <a:avLst/>
              <a:gdLst/>
              <a:ahLst/>
              <a:cxnLst/>
              <a:rect r="r" b="b" t="t" l="l"/>
              <a:pathLst>
                <a:path h="1231256" w="1592060">
                  <a:moveTo>
                    <a:pt x="81968" y="0"/>
                  </a:moveTo>
                  <a:lnTo>
                    <a:pt x="1510093" y="0"/>
                  </a:lnTo>
                  <a:cubicBezTo>
                    <a:pt x="1531832" y="0"/>
                    <a:pt x="1552681" y="8636"/>
                    <a:pt x="1568053" y="24008"/>
                  </a:cubicBezTo>
                  <a:cubicBezTo>
                    <a:pt x="1583425" y="39380"/>
                    <a:pt x="1592060" y="60229"/>
                    <a:pt x="1592060" y="81968"/>
                  </a:cubicBezTo>
                  <a:lnTo>
                    <a:pt x="1592060" y="1149288"/>
                  </a:lnTo>
                  <a:cubicBezTo>
                    <a:pt x="1592060" y="1171027"/>
                    <a:pt x="1583425" y="1191876"/>
                    <a:pt x="1568053" y="1207248"/>
                  </a:cubicBezTo>
                  <a:cubicBezTo>
                    <a:pt x="1552681" y="1222620"/>
                    <a:pt x="1531832" y="1231256"/>
                    <a:pt x="1510093" y="1231256"/>
                  </a:cubicBezTo>
                  <a:lnTo>
                    <a:pt x="81968" y="1231256"/>
                  </a:lnTo>
                  <a:cubicBezTo>
                    <a:pt x="60229" y="1231256"/>
                    <a:pt x="39380" y="1222620"/>
                    <a:pt x="24008" y="1207248"/>
                  </a:cubicBezTo>
                  <a:cubicBezTo>
                    <a:pt x="8636" y="1191876"/>
                    <a:pt x="0" y="1171027"/>
                    <a:pt x="0" y="1149288"/>
                  </a:cubicBezTo>
                  <a:lnTo>
                    <a:pt x="0" y="81968"/>
                  </a:lnTo>
                  <a:cubicBezTo>
                    <a:pt x="0" y="60229"/>
                    <a:pt x="8636" y="39380"/>
                    <a:pt x="24008" y="24008"/>
                  </a:cubicBezTo>
                  <a:cubicBezTo>
                    <a:pt x="39380" y="8636"/>
                    <a:pt x="60229" y="0"/>
                    <a:pt x="81968" y="0"/>
                  </a:cubicBezTo>
                  <a:close/>
                </a:path>
              </a:pathLst>
            </a:custGeom>
            <a:solidFill>
              <a:srgbClr val="23539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92060" cy="1269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11439" y="5143500"/>
            <a:ext cx="9396688" cy="4423668"/>
            <a:chOff x="0" y="0"/>
            <a:chExt cx="2474848" cy="11650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74848" cy="1165081"/>
            </a:xfrm>
            <a:custGeom>
              <a:avLst/>
              <a:gdLst/>
              <a:ahLst/>
              <a:cxnLst/>
              <a:rect r="r" b="b" t="t" l="l"/>
              <a:pathLst>
                <a:path h="1165081" w="2474848">
                  <a:moveTo>
                    <a:pt x="52730" y="0"/>
                  </a:moveTo>
                  <a:lnTo>
                    <a:pt x="2422118" y="0"/>
                  </a:lnTo>
                  <a:cubicBezTo>
                    <a:pt x="2451240" y="0"/>
                    <a:pt x="2474848" y="23608"/>
                    <a:pt x="2474848" y="52730"/>
                  </a:cubicBezTo>
                  <a:lnTo>
                    <a:pt x="2474848" y="1112352"/>
                  </a:lnTo>
                  <a:cubicBezTo>
                    <a:pt x="2474848" y="1141474"/>
                    <a:pt x="2451240" y="1165081"/>
                    <a:pt x="2422118" y="1165081"/>
                  </a:cubicBezTo>
                  <a:lnTo>
                    <a:pt x="52730" y="1165081"/>
                  </a:lnTo>
                  <a:cubicBezTo>
                    <a:pt x="23608" y="1165081"/>
                    <a:pt x="0" y="1141474"/>
                    <a:pt x="0" y="1112352"/>
                  </a:cubicBezTo>
                  <a:lnTo>
                    <a:pt x="0" y="52730"/>
                  </a:lnTo>
                  <a:cubicBezTo>
                    <a:pt x="0" y="23608"/>
                    <a:pt x="23608" y="0"/>
                    <a:pt x="52730" y="0"/>
                  </a:cubicBezTo>
                  <a:close/>
                </a:path>
              </a:pathLst>
            </a:custGeom>
            <a:solidFill>
              <a:srgbClr val="23539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74848" cy="1203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494940" y="1123950"/>
            <a:ext cx="12513186" cy="2349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2"/>
              </a:lnSpc>
            </a:pPr>
            <a:r>
              <a:rPr lang="en-US" sz="5878" b="true">
                <a:solidFill>
                  <a:srgbClr val="235396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2: PASSWORD STRENGTH ANALYZER</a:t>
            </a:r>
          </a:p>
          <a:p>
            <a:pPr algn="l">
              <a:lnSpc>
                <a:spcPts val="6172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262502" y="3123765"/>
            <a:ext cx="9688586" cy="1631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4"/>
              </a:lnSpc>
            </a:pPr>
            <a:r>
              <a:rPr lang="en-US" b="true" sz="2696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Objective:</a:t>
            </a:r>
          </a:p>
          <a:p>
            <a:pPr algn="just">
              <a:lnSpc>
                <a:spcPts val="3494"/>
              </a:lnSpc>
            </a:pPr>
            <a:r>
              <a:rPr lang="en-US" sz="24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evaluate the strength of a password using common security criteria.</a:t>
            </a:r>
          </a:p>
          <a:p>
            <a:pPr algn="just">
              <a:lnSpc>
                <a:spcPts val="223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701067" y="6031530"/>
            <a:ext cx="7587747" cy="346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 ENTERS PASSWORD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↓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PASSWORD ANALYSIS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↓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┌───────┼────────┐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↓       ↓        ↓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Length Characters Symbols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└───────┼────────┘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↓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STRENGTH EVALUATION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↓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WEAK / MEDIUM / STRON</a:t>
            </a:r>
            <a:r>
              <a:rPr lang="en-US" sz="1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66735" y="5785671"/>
            <a:ext cx="4034284" cy="3181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11" indent="-323856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Password length</a:t>
            </a:r>
          </a:p>
          <a:p>
            <a:pPr algn="l" marL="647711" indent="-323856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Uppercase letters</a:t>
            </a:r>
          </a:p>
          <a:p>
            <a:pPr algn="l" marL="647711" indent="-323856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Lowercase letter</a:t>
            </a:r>
          </a:p>
          <a:p>
            <a:pPr algn="l" marL="647711" indent="-323856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Numbers</a:t>
            </a:r>
          </a:p>
          <a:p>
            <a:pPr algn="l" marL="647711" indent="-323856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Special characters</a:t>
            </a:r>
          </a:p>
          <a:p>
            <a:pPr algn="l">
              <a:lnSpc>
                <a:spcPts val="336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556156" y="5212902"/>
            <a:ext cx="2003599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Working: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86052" y="5184101"/>
            <a:ext cx="1838640" cy="658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Checks: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92325"/>
            <a:ext cx="3358820" cy="555732"/>
          </a:xfrm>
          <a:custGeom>
            <a:avLst/>
            <a:gdLst/>
            <a:ahLst/>
            <a:cxnLst/>
            <a:rect r="r" b="b" t="t" l="l"/>
            <a:pathLst>
              <a:path h="555732" w="3358820">
                <a:moveTo>
                  <a:pt x="0" y="0"/>
                </a:moveTo>
                <a:lnTo>
                  <a:pt x="3358820" y="0"/>
                </a:lnTo>
                <a:lnTo>
                  <a:pt x="3358820" y="555732"/>
                </a:lnTo>
                <a:lnTo>
                  <a:pt x="0" y="555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72513" y="3061951"/>
            <a:ext cx="12089709" cy="1693230"/>
            <a:chOff x="0" y="0"/>
            <a:chExt cx="3184121" cy="4459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84121" cy="445953"/>
            </a:xfrm>
            <a:custGeom>
              <a:avLst/>
              <a:gdLst/>
              <a:ahLst/>
              <a:cxnLst/>
              <a:rect r="r" b="b" t="t" l="l"/>
              <a:pathLst>
                <a:path h="445953" w="3184121">
                  <a:moveTo>
                    <a:pt x="40984" y="0"/>
                  </a:moveTo>
                  <a:lnTo>
                    <a:pt x="3143137" y="0"/>
                  </a:lnTo>
                  <a:cubicBezTo>
                    <a:pt x="3165772" y="0"/>
                    <a:pt x="3184121" y="18349"/>
                    <a:pt x="3184121" y="40984"/>
                  </a:cubicBezTo>
                  <a:lnTo>
                    <a:pt x="3184121" y="404970"/>
                  </a:lnTo>
                  <a:cubicBezTo>
                    <a:pt x="3184121" y="427604"/>
                    <a:pt x="3165772" y="445953"/>
                    <a:pt x="3143137" y="445953"/>
                  </a:cubicBezTo>
                  <a:lnTo>
                    <a:pt x="40984" y="445953"/>
                  </a:lnTo>
                  <a:cubicBezTo>
                    <a:pt x="18349" y="445953"/>
                    <a:pt x="0" y="427604"/>
                    <a:pt x="0" y="404970"/>
                  </a:cubicBezTo>
                  <a:lnTo>
                    <a:pt x="0" y="40984"/>
                  </a:lnTo>
                  <a:cubicBezTo>
                    <a:pt x="0" y="18349"/>
                    <a:pt x="18349" y="0"/>
                    <a:pt x="40984" y="0"/>
                  </a:cubicBezTo>
                  <a:close/>
                </a:path>
              </a:pathLst>
            </a:custGeom>
            <a:solidFill>
              <a:srgbClr val="23539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184121" cy="48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2513" y="5052198"/>
            <a:ext cx="6044854" cy="4674923"/>
            <a:chOff x="0" y="0"/>
            <a:chExt cx="1592060" cy="12312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92060" cy="1231256"/>
            </a:xfrm>
            <a:custGeom>
              <a:avLst/>
              <a:gdLst/>
              <a:ahLst/>
              <a:cxnLst/>
              <a:rect r="r" b="b" t="t" l="l"/>
              <a:pathLst>
                <a:path h="1231256" w="1592060">
                  <a:moveTo>
                    <a:pt x="81968" y="0"/>
                  </a:moveTo>
                  <a:lnTo>
                    <a:pt x="1510093" y="0"/>
                  </a:lnTo>
                  <a:cubicBezTo>
                    <a:pt x="1531832" y="0"/>
                    <a:pt x="1552681" y="8636"/>
                    <a:pt x="1568053" y="24008"/>
                  </a:cubicBezTo>
                  <a:cubicBezTo>
                    <a:pt x="1583425" y="39380"/>
                    <a:pt x="1592060" y="60229"/>
                    <a:pt x="1592060" y="81968"/>
                  </a:cubicBezTo>
                  <a:lnTo>
                    <a:pt x="1592060" y="1149288"/>
                  </a:lnTo>
                  <a:cubicBezTo>
                    <a:pt x="1592060" y="1171027"/>
                    <a:pt x="1583425" y="1191876"/>
                    <a:pt x="1568053" y="1207248"/>
                  </a:cubicBezTo>
                  <a:cubicBezTo>
                    <a:pt x="1552681" y="1222620"/>
                    <a:pt x="1531832" y="1231256"/>
                    <a:pt x="1510093" y="1231256"/>
                  </a:cubicBezTo>
                  <a:lnTo>
                    <a:pt x="81968" y="1231256"/>
                  </a:lnTo>
                  <a:cubicBezTo>
                    <a:pt x="60229" y="1231256"/>
                    <a:pt x="39380" y="1222620"/>
                    <a:pt x="24008" y="1207248"/>
                  </a:cubicBezTo>
                  <a:cubicBezTo>
                    <a:pt x="8636" y="1191876"/>
                    <a:pt x="0" y="1171027"/>
                    <a:pt x="0" y="1149288"/>
                  </a:cubicBezTo>
                  <a:lnTo>
                    <a:pt x="0" y="81968"/>
                  </a:lnTo>
                  <a:cubicBezTo>
                    <a:pt x="0" y="60229"/>
                    <a:pt x="8636" y="39380"/>
                    <a:pt x="24008" y="24008"/>
                  </a:cubicBezTo>
                  <a:cubicBezTo>
                    <a:pt x="39380" y="8636"/>
                    <a:pt x="60229" y="0"/>
                    <a:pt x="81968" y="0"/>
                  </a:cubicBezTo>
                  <a:close/>
                </a:path>
              </a:pathLst>
            </a:custGeom>
            <a:solidFill>
              <a:srgbClr val="23539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92060" cy="1269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11439" y="5143500"/>
            <a:ext cx="9396688" cy="4423668"/>
            <a:chOff x="0" y="0"/>
            <a:chExt cx="2474848" cy="11650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74848" cy="1165081"/>
            </a:xfrm>
            <a:custGeom>
              <a:avLst/>
              <a:gdLst/>
              <a:ahLst/>
              <a:cxnLst/>
              <a:rect r="r" b="b" t="t" l="l"/>
              <a:pathLst>
                <a:path h="1165081" w="2474848">
                  <a:moveTo>
                    <a:pt x="52730" y="0"/>
                  </a:moveTo>
                  <a:lnTo>
                    <a:pt x="2422118" y="0"/>
                  </a:lnTo>
                  <a:cubicBezTo>
                    <a:pt x="2451240" y="0"/>
                    <a:pt x="2474848" y="23608"/>
                    <a:pt x="2474848" y="52730"/>
                  </a:cubicBezTo>
                  <a:lnTo>
                    <a:pt x="2474848" y="1112352"/>
                  </a:lnTo>
                  <a:cubicBezTo>
                    <a:pt x="2474848" y="1141474"/>
                    <a:pt x="2451240" y="1165081"/>
                    <a:pt x="2422118" y="1165081"/>
                  </a:cubicBezTo>
                  <a:lnTo>
                    <a:pt x="52730" y="1165081"/>
                  </a:lnTo>
                  <a:cubicBezTo>
                    <a:pt x="23608" y="1165081"/>
                    <a:pt x="0" y="1141474"/>
                    <a:pt x="0" y="1112352"/>
                  </a:cubicBezTo>
                  <a:lnTo>
                    <a:pt x="0" y="52730"/>
                  </a:lnTo>
                  <a:cubicBezTo>
                    <a:pt x="0" y="23608"/>
                    <a:pt x="23608" y="0"/>
                    <a:pt x="52730" y="0"/>
                  </a:cubicBezTo>
                  <a:close/>
                </a:path>
              </a:pathLst>
            </a:custGeom>
            <a:solidFill>
              <a:srgbClr val="23539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74848" cy="1203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494940" y="1114425"/>
            <a:ext cx="10623350" cy="2324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5"/>
              </a:lnSpc>
            </a:pPr>
            <a:r>
              <a:rPr lang="en-US" sz="5795" b="true">
                <a:solidFill>
                  <a:srgbClr val="235396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3 — SECURE LOGIN SYSTEM</a:t>
            </a:r>
          </a:p>
          <a:p>
            <a:pPr algn="l">
              <a:lnSpc>
                <a:spcPts val="6085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262502" y="3123765"/>
            <a:ext cx="10638517" cy="1631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4"/>
              </a:lnSpc>
            </a:pPr>
            <a:r>
              <a:rPr lang="en-US" b="true" sz="2696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Objective:</a:t>
            </a:r>
          </a:p>
          <a:p>
            <a:pPr algn="just">
              <a:lnSpc>
                <a:spcPts val="3494"/>
              </a:lnSpc>
            </a:pPr>
            <a:r>
              <a:rPr lang="en-US" sz="24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develop a secure login system that allows authorized users to access an application while protecting their login credentials.</a:t>
            </a:r>
          </a:p>
          <a:p>
            <a:pPr algn="just">
              <a:lnSpc>
                <a:spcPts val="223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701067" y="6041055"/>
            <a:ext cx="7132983" cy="3526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4"/>
              </a:lnSpc>
            </a:pPr>
            <a:r>
              <a:rPr lang="en-US" sz="154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</a:t>
            </a:r>
          </a:p>
          <a:p>
            <a:pPr algn="ctr">
              <a:lnSpc>
                <a:spcPts val="2164"/>
              </a:lnSpc>
            </a:pPr>
            <a:r>
              <a:rPr lang="en-US" sz="154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↓</a:t>
            </a:r>
          </a:p>
          <a:p>
            <a:pPr algn="ctr">
              <a:lnSpc>
                <a:spcPts val="2164"/>
              </a:lnSpc>
            </a:pPr>
            <a:r>
              <a:rPr lang="en-US" sz="154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Enter Username &amp; Password</a:t>
            </a:r>
          </a:p>
          <a:p>
            <a:pPr algn="ctr">
              <a:lnSpc>
                <a:spcPts val="2164"/>
              </a:lnSpc>
            </a:pPr>
            <a:r>
              <a:rPr lang="en-US" sz="154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↓</a:t>
            </a:r>
          </a:p>
          <a:p>
            <a:pPr algn="ctr">
              <a:lnSpc>
                <a:spcPts val="2164"/>
              </a:lnSpc>
            </a:pPr>
            <a:r>
              <a:rPr lang="en-US" sz="154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Validate Credentials</a:t>
            </a:r>
          </a:p>
          <a:p>
            <a:pPr algn="ctr">
              <a:lnSpc>
                <a:spcPts val="2164"/>
              </a:lnSpc>
            </a:pPr>
            <a:r>
              <a:rPr lang="en-US" sz="154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↓</a:t>
            </a:r>
          </a:p>
          <a:p>
            <a:pPr algn="ctr">
              <a:lnSpc>
                <a:spcPts val="2164"/>
              </a:lnSpc>
            </a:pPr>
            <a:r>
              <a:rPr lang="en-US" sz="154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┌───────────────┐</a:t>
            </a:r>
          </a:p>
          <a:p>
            <a:pPr algn="ctr">
              <a:lnSpc>
                <a:spcPts val="2164"/>
              </a:lnSpc>
            </a:pPr>
            <a:r>
              <a:rPr lang="en-US" sz="154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│ Credentials   │</a:t>
            </a:r>
          </a:p>
          <a:p>
            <a:pPr algn="ctr">
              <a:lnSpc>
                <a:spcPts val="2164"/>
              </a:lnSpc>
            </a:pPr>
            <a:r>
              <a:rPr lang="en-US" sz="154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│ Correct?      │</a:t>
            </a:r>
          </a:p>
          <a:p>
            <a:pPr algn="ctr">
              <a:lnSpc>
                <a:spcPts val="2164"/>
              </a:lnSpc>
            </a:pPr>
            <a:r>
              <a:rPr lang="en-US" sz="154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└───────┬───────┘</a:t>
            </a:r>
          </a:p>
          <a:p>
            <a:pPr algn="ctr">
              <a:lnSpc>
                <a:spcPts val="2164"/>
              </a:lnSpc>
            </a:pPr>
            <a:r>
              <a:rPr lang="en-US" sz="154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YES ↓       ↓ NO</a:t>
            </a:r>
          </a:p>
          <a:p>
            <a:pPr algn="ctr">
              <a:lnSpc>
                <a:spcPts val="2164"/>
              </a:lnSpc>
            </a:pPr>
            <a:r>
              <a:rPr lang="en-US" sz="154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Login     Access</a:t>
            </a:r>
          </a:p>
          <a:p>
            <a:pPr algn="ctr">
              <a:lnSpc>
                <a:spcPts val="2164"/>
              </a:lnSpc>
            </a:pPr>
            <a:r>
              <a:rPr lang="en-US" sz="154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Successful   Denied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56156" y="5222427"/>
            <a:ext cx="2188513" cy="497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Working: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50140" y="5442772"/>
            <a:ext cx="6505117" cy="3318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Key Features:</a:t>
            </a:r>
          </a:p>
          <a:p>
            <a:pPr algn="l" marL="585380" indent="-292690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 registration and login</a:t>
            </a:r>
          </a:p>
          <a:p>
            <a:pPr algn="l" marL="585380" indent="-292690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Username/password authentication</a:t>
            </a:r>
          </a:p>
          <a:p>
            <a:pPr algn="l" marL="585380" indent="-292690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Password validation</a:t>
            </a:r>
          </a:p>
          <a:p>
            <a:pPr algn="l" marL="585380" indent="-292690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Secure handling of user credentials</a:t>
            </a:r>
          </a:p>
          <a:p>
            <a:pPr algn="l" marL="585380" indent="-292690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Access control for authorized users</a:t>
            </a:r>
          </a:p>
          <a:p>
            <a:pPr algn="l" marL="585380" indent="-292690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Login error handling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92325"/>
            <a:ext cx="3358820" cy="555732"/>
          </a:xfrm>
          <a:custGeom>
            <a:avLst/>
            <a:gdLst/>
            <a:ahLst/>
            <a:cxnLst/>
            <a:rect r="r" b="b" t="t" l="l"/>
            <a:pathLst>
              <a:path h="555732" w="3358820">
                <a:moveTo>
                  <a:pt x="0" y="0"/>
                </a:moveTo>
                <a:lnTo>
                  <a:pt x="3358820" y="0"/>
                </a:lnTo>
                <a:lnTo>
                  <a:pt x="3358820" y="555732"/>
                </a:lnTo>
                <a:lnTo>
                  <a:pt x="0" y="555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72513" y="3061951"/>
            <a:ext cx="12089709" cy="1693230"/>
            <a:chOff x="0" y="0"/>
            <a:chExt cx="3184121" cy="4459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84121" cy="445953"/>
            </a:xfrm>
            <a:custGeom>
              <a:avLst/>
              <a:gdLst/>
              <a:ahLst/>
              <a:cxnLst/>
              <a:rect r="r" b="b" t="t" l="l"/>
              <a:pathLst>
                <a:path h="445953" w="3184121">
                  <a:moveTo>
                    <a:pt x="40984" y="0"/>
                  </a:moveTo>
                  <a:lnTo>
                    <a:pt x="3143137" y="0"/>
                  </a:lnTo>
                  <a:cubicBezTo>
                    <a:pt x="3165772" y="0"/>
                    <a:pt x="3184121" y="18349"/>
                    <a:pt x="3184121" y="40984"/>
                  </a:cubicBezTo>
                  <a:lnTo>
                    <a:pt x="3184121" y="404970"/>
                  </a:lnTo>
                  <a:cubicBezTo>
                    <a:pt x="3184121" y="427604"/>
                    <a:pt x="3165772" y="445953"/>
                    <a:pt x="3143137" y="445953"/>
                  </a:cubicBezTo>
                  <a:lnTo>
                    <a:pt x="40984" y="445953"/>
                  </a:lnTo>
                  <a:cubicBezTo>
                    <a:pt x="18349" y="445953"/>
                    <a:pt x="0" y="427604"/>
                    <a:pt x="0" y="404970"/>
                  </a:cubicBezTo>
                  <a:lnTo>
                    <a:pt x="0" y="40984"/>
                  </a:lnTo>
                  <a:cubicBezTo>
                    <a:pt x="0" y="18349"/>
                    <a:pt x="18349" y="0"/>
                    <a:pt x="40984" y="0"/>
                  </a:cubicBezTo>
                  <a:close/>
                </a:path>
              </a:pathLst>
            </a:custGeom>
            <a:solidFill>
              <a:srgbClr val="23539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184121" cy="48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2513" y="5052198"/>
            <a:ext cx="6044854" cy="4674923"/>
            <a:chOff x="0" y="0"/>
            <a:chExt cx="1592060" cy="12312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92060" cy="1231256"/>
            </a:xfrm>
            <a:custGeom>
              <a:avLst/>
              <a:gdLst/>
              <a:ahLst/>
              <a:cxnLst/>
              <a:rect r="r" b="b" t="t" l="l"/>
              <a:pathLst>
                <a:path h="1231256" w="1592060">
                  <a:moveTo>
                    <a:pt x="81968" y="0"/>
                  </a:moveTo>
                  <a:lnTo>
                    <a:pt x="1510093" y="0"/>
                  </a:lnTo>
                  <a:cubicBezTo>
                    <a:pt x="1531832" y="0"/>
                    <a:pt x="1552681" y="8636"/>
                    <a:pt x="1568053" y="24008"/>
                  </a:cubicBezTo>
                  <a:cubicBezTo>
                    <a:pt x="1583425" y="39380"/>
                    <a:pt x="1592060" y="60229"/>
                    <a:pt x="1592060" y="81968"/>
                  </a:cubicBezTo>
                  <a:lnTo>
                    <a:pt x="1592060" y="1149288"/>
                  </a:lnTo>
                  <a:cubicBezTo>
                    <a:pt x="1592060" y="1171027"/>
                    <a:pt x="1583425" y="1191876"/>
                    <a:pt x="1568053" y="1207248"/>
                  </a:cubicBezTo>
                  <a:cubicBezTo>
                    <a:pt x="1552681" y="1222620"/>
                    <a:pt x="1531832" y="1231256"/>
                    <a:pt x="1510093" y="1231256"/>
                  </a:cubicBezTo>
                  <a:lnTo>
                    <a:pt x="81968" y="1231256"/>
                  </a:lnTo>
                  <a:cubicBezTo>
                    <a:pt x="60229" y="1231256"/>
                    <a:pt x="39380" y="1222620"/>
                    <a:pt x="24008" y="1207248"/>
                  </a:cubicBezTo>
                  <a:cubicBezTo>
                    <a:pt x="8636" y="1191876"/>
                    <a:pt x="0" y="1171027"/>
                    <a:pt x="0" y="1149288"/>
                  </a:cubicBezTo>
                  <a:lnTo>
                    <a:pt x="0" y="81968"/>
                  </a:lnTo>
                  <a:cubicBezTo>
                    <a:pt x="0" y="60229"/>
                    <a:pt x="8636" y="39380"/>
                    <a:pt x="24008" y="24008"/>
                  </a:cubicBezTo>
                  <a:cubicBezTo>
                    <a:pt x="39380" y="8636"/>
                    <a:pt x="60229" y="0"/>
                    <a:pt x="81968" y="0"/>
                  </a:cubicBezTo>
                  <a:close/>
                </a:path>
              </a:pathLst>
            </a:custGeom>
            <a:solidFill>
              <a:srgbClr val="23539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92060" cy="1269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11439" y="5143500"/>
            <a:ext cx="9396688" cy="4423668"/>
            <a:chOff x="0" y="0"/>
            <a:chExt cx="2474848" cy="11650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74848" cy="1165081"/>
            </a:xfrm>
            <a:custGeom>
              <a:avLst/>
              <a:gdLst/>
              <a:ahLst/>
              <a:cxnLst/>
              <a:rect r="r" b="b" t="t" l="l"/>
              <a:pathLst>
                <a:path h="1165081" w="2474848">
                  <a:moveTo>
                    <a:pt x="52730" y="0"/>
                  </a:moveTo>
                  <a:lnTo>
                    <a:pt x="2422118" y="0"/>
                  </a:lnTo>
                  <a:cubicBezTo>
                    <a:pt x="2451240" y="0"/>
                    <a:pt x="2474848" y="23608"/>
                    <a:pt x="2474848" y="52730"/>
                  </a:cubicBezTo>
                  <a:lnTo>
                    <a:pt x="2474848" y="1112352"/>
                  </a:lnTo>
                  <a:cubicBezTo>
                    <a:pt x="2474848" y="1141474"/>
                    <a:pt x="2451240" y="1165081"/>
                    <a:pt x="2422118" y="1165081"/>
                  </a:cubicBezTo>
                  <a:lnTo>
                    <a:pt x="52730" y="1165081"/>
                  </a:lnTo>
                  <a:cubicBezTo>
                    <a:pt x="23608" y="1165081"/>
                    <a:pt x="0" y="1141474"/>
                    <a:pt x="0" y="1112352"/>
                  </a:cubicBezTo>
                  <a:lnTo>
                    <a:pt x="0" y="52730"/>
                  </a:lnTo>
                  <a:cubicBezTo>
                    <a:pt x="0" y="23608"/>
                    <a:pt x="23608" y="0"/>
                    <a:pt x="52730" y="0"/>
                  </a:cubicBezTo>
                  <a:close/>
                </a:path>
              </a:pathLst>
            </a:custGeom>
            <a:solidFill>
              <a:srgbClr val="23539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74848" cy="1203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494940" y="1114425"/>
            <a:ext cx="10623350" cy="2324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3800" b="true">
                <a:solidFill>
                  <a:srgbClr val="235396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4 — VULNERABILITY SCANNER:</a:t>
            </a:r>
          </a:p>
          <a:p>
            <a:pPr algn="l">
              <a:lnSpc>
                <a:spcPts val="40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262502" y="3123765"/>
            <a:ext cx="10638517" cy="186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4"/>
              </a:lnSpc>
            </a:pPr>
            <a:r>
              <a:rPr lang="en-US" b="true" sz="2696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Objective:</a:t>
            </a:r>
          </a:p>
          <a:p>
            <a:pPr algn="l">
              <a:lnSpc>
                <a:spcPts val="3354"/>
              </a:lnSpc>
            </a:pPr>
            <a:r>
              <a:rPr lang="en-US" sz="23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develop a basic vulnerability scanner that helps identify potential security weaknesses in a target system or application.</a:t>
            </a:r>
          </a:p>
          <a:p>
            <a:pPr algn="just">
              <a:lnSpc>
                <a:spcPts val="2234"/>
              </a:lnSpc>
            </a:pPr>
          </a:p>
          <a:p>
            <a:pPr algn="just">
              <a:lnSpc>
                <a:spcPts val="223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38452" y="5758912"/>
            <a:ext cx="9105548" cy="3808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2"/>
              </a:lnSpc>
            </a:pPr>
            <a:r>
              <a:rPr lang="en-US" sz="197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Target Input</a:t>
            </a:r>
          </a:p>
          <a:p>
            <a:pPr algn="ctr">
              <a:lnSpc>
                <a:spcPts val="2762"/>
              </a:lnSpc>
            </a:pPr>
            <a:r>
              <a:rPr lang="en-US" sz="197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↓</a:t>
            </a:r>
          </a:p>
          <a:p>
            <a:pPr algn="ctr">
              <a:lnSpc>
                <a:spcPts val="2762"/>
              </a:lnSpc>
            </a:pPr>
            <a:r>
              <a:rPr lang="en-US" sz="197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Scan Target</a:t>
            </a:r>
          </a:p>
          <a:p>
            <a:pPr algn="ctr">
              <a:lnSpc>
                <a:spcPts val="2762"/>
              </a:lnSpc>
            </a:pPr>
            <a:r>
              <a:rPr lang="en-US" sz="197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↓</a:t>
            </a:r>
          </a:p>
          <a:p>
            <a:pPr algn="ctr">
              <a:lnSpc>
                <a:spcPts val="2762"/>
              </a:lnSpc>
            </a:pPr>
            <a:r>
              <a:rPr lang="en-US" sz="197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Security Checks</a:t>
            </a:r>
          </a:p>
          <a:p>
            <a:pPr algn="ctr">
              <a:lnSpc>
                <a:spcPts val="2762"/>
              </a:lnSpc>
            </a:pPr>
            <a:r>
              <a:rPr lang="en-US" sz="197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↓</a:t>
            </a:r>
          </a:p>
          <a:p>
            <a:pPr algn="ctr">
              <a:lnSpc>
                <a:spcPts val="2762"/>
              </a:lnSpc>
            </a:pPr>
            <a:r>
              <a:rPr lang="en-US" sz="197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Analyze Results</a:t>
            </a:r>
          </a:p>
          <a:p>
            <a:pPr algn="ctr">
              <a:lnSpc>
                <a:spcPts val="2762"/>
              </a:lnSpc>
            </a:pPr>
            <a:r>
              <a:rPr lang="en-US" sz="197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↓</a:t>
            </a:r>
          </a:p>
          <a:p>
            <a:pPr algn="ctr">
              <a:lnSpc>
                <a:spcPts val="2762"/>
              </a:lnSpc>
            </a:pPr>
            <a:r>
              <a:rPr lang="en-US" sz="197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Identify Vulnerabilities</a:t>
            </a:r>
          </a:p>
          <a:p>
            <a:pPr algn="ctr">
              <a:lnSpc>
                <a:spcPts val="2762"/>
              </a:lnSpc>
            </a:pPr>
            <a:r>
              <a:rPr lang="en-US" sz="197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↓</a:t>
            </a:r>
          </a:p>
          <a:p>
            <a:pPr algn="ctr">
              <a:lnSpc>
                <a:spcPts val="2762"/>
              </a:lnSpc>
            </a:pPr>
            <a:r>
              <a:rPr lang="en-US" sz="197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Generate Report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56156" y="5222427"/>
            <a:ext cx="2188513" cy="497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Working: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50140" y="5442772"/>
            <a:ext cx="8559582" cy="3794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5"/>
              </a:lnSpc>
            </a:pPr>
            <a:r>
              <a:rPr lang="en-US" sz="271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Key Features:</a:t>
            </a:r>
          </a:p>
          <a:p>
            <a:pPr algn="l" marL="585380" indent="-292690" lvl="1">
              <a:lnSpc>
                <a:spcPts val="3795"/>
              </a:lnSpc>
              <a:buFont typeface="Arial"/>
              <a:buChar char="•"/>
            </a:pPr>
            <a:r>
              <a:rPr lang="en-US" sz="271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Accepts a target for scanning</a:t>
            </a:r>
          </a:p>
          <a:p>
            <a:pPr algn="l" marL="585380" indent="-292690" lvl="1">
              <a:lnSpc>
                <a:spcPts val="3795"/>
              </a:lnSpc>
              <a:buFont typeface="Arial"/>
              <a:buChar char="•"/>
            </a:pPr>
            <a:r>
              <a:rPr lang="en-US" sz="271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Performs basic security checks</a:t>
            </a:r>
          </a:p>
          <a:p>
            <a:pPr algn="l" marL="585380" indent="-292690" lvl="1">
              <a:lnSpc>
                <a:spcPts val="3795"/>
              </a:lnSpc>
              <a:buFont typeface="Arial"/>
              <a:buChar char="•"/>
            </a:pPr>
            <a:r>
              <a:rPr lang="en-US" sz="271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Identifies potential vulnerabilities</a:t>
            </a:r>
          </a:p>
          <a:p>
            <a:pPr algn="l" marL="585380" indent="-292690" lvl="1">
              <a:lnSpc>
                <a:spcPts val="3795"/>
              </a:lnSpc>
              <a:buFont typeface="Arial"/>
              <a:buChar char="•"/>
            </a:pPr>
            <a:r>
              <a:rPr lang="en-US" sz="271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Displays scan results</a:t>
            </a:r>
          </a:p>
          <a:p>
            <a:pPr algn="l" marL="585380" indent="-292690" lvl="1">
              <a:lnSpc>
                <a:spcPts val="3795"/>
              </a:lnSpc>
              <a:buFont typeface="Arial"/>
              <a:buChar char="•"/>
            </a:pPr>
            <a:r>
              <a:rPr lang="en-US" sz="271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Helps understand common security weaknesses</a:t>
            </a:r>
          </a:p>
          <a:p>
            <a:pPr algn="l">
              <a:lnSpc>
                <a:spcPts val="3795"/>
              </a:lnSpc>
            </a:pPr>
          </a:p>
          <a:p>
            <a:pPr algn="l">
              <a:lnSpc>
                <a:spcPts val="3795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12901" y="1866292"/>
            <a:ext cx="12436175" cy="1095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0"/>
              </a:lnSpc>
            </a:pPr>
            <a:r>
              <a:rPr lang="en-US" b="true" sz="5800">
                <a:solidFill>
                  <a:srgbClr val="235396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 &amp; GITHUB: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12901" y="3600450"/>
            <a:ext cx="9502056" cy="2499604"/>
            <a:chOff x="0" y="0"/>
            <a:chExt cx="2502599" cy="6583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02599" cy="658332"/>
            </a:xfrm>
            <a:custGeom>
              <a:avLst/>
              <a:gdLst/>
              <a:ahLst/>
              <a:cxnLst/>
              <a:rect r="r" b="b" t="t" l="l"/>
              <a:pathLst>
                <a:path h="658332" w="2502599">
                  <a:moveTo>
                    <a:pt x="52145" y="0"/>
                  </a:moveTo>
                  <a:lnTo>
                    <a:pt x="2450454" y="0"/>
                  </a:lnTo>
                  <a:cubicBezTo>
                    <a:pt x="2479253" y="0"/>
                    <a:pt x="2502599" y="23346"/>
                    <a:pt x="2502599" y="52145"/>
                  </a:cubicBezTo>
                  <a:lnTo>
                    <a:pt x="2502599" y="606187"/>
                  </a:lnTo>
                  <a:cubicBezTo>
                    <a:pt x="2502599" y="634986"/>
                    <a:pt x="2479253" y="658332"/>
                    <a:pt x="2450454" y="658332"/>
                  </a:cubicBezTo>
                  <a:lnTo>
                    <a:pt x="52145" y="658332"/>
                  </a:lnTo>
                  <a:cubicBezTo>
                    <a:pt x="23346" y="658332"/>
                    <a:pt x="0" y="634986"/>
                    <a:pt x="0" y="606187"/>
                  </a:cubicBezTo>
                  <a:lnTo>
                    <a:pt x="0" y="52145"/>
                  </a:lnTo>
                  <a:cubicBezTo>
                    <a:pt x="0" y="23346"/>
                    <a:pt x="23346" y="0"/>
                    <a:pt x="52145" y="0"/>
                  </a:cubicBezTo>
                  <a:close/>
                </a:path>
              </a:pathLst>
            </a:custGeom>
            <a:solidFill>
              <a:srgbClr val="23539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502599" cy="69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12901" y="6346281"/>
            <a:ext cx="9502056" cy="2471864"/>
            <a:chOff x="0" y="0"/>
            <a:chExt cx="2502599" cy="6510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02599" cy="651026"/>
            </a:xfrm>
            <a:custGeom>
              <a:avLst/>
              <a:gdLst/>
              <a:ahLst/>
              <a:cxnLst/>
              <a:rect r="r" b="b" t="t" l="l"/>
              <a:pathLst>
                <a:path h="651026" w="2502599">
                  <a:moveTo>
                    <a:pt x="52145" y="0"/>
                  </a:moveTo>
                  <a:lnTo>
                    <a:pt x="2450454" y="0"/>
                  </a:lnTo>
                  <a:cubicBezTo>
                    <a:pt x="2479253" y="0"/>
                    <a:pt x="2502599" y="23346"/>
                    <a:pt x="2502599" y="52145"/>
                  </a:cubicBezTo>
                  <a:lnTo>
                    <a:pt x="2502599" y="598881"/>
                  </a:lnTo>
                  <a:cubicBezTo>
                    <a:pt x="2502599" y="612711"/>
                    <a:pt x="2497105" y="625974"/>
                    <a:pt x="2487326" y="635753"/>
                  </a:cubicBezTo>
                  <a:cubicBezTo>
                    <a:pt x="2477547" y="645532"/>
                    <a:pt x="2464284" y="651026"/>
                    <a:pt x="2450454" y="651026"/>
                  </a:cubicBezTo>
                  <a:lnTo>
                    <a:pt x="52145" y="651026"/>
                  </a:lnTo>
                  <a:cubicBezTo>
                    <a:pt x="23346" y="651026"/>
                    <a:pt x="0" y="627680"/>
                    <a:pt x="0" y="598881"/>
                  </a:cubicBezTo>
                  <a:lnTo>
                    <a:pt x="0" y="52145"/>
                  </a:lnTo>
                  <a:cubicBezTo>
                    <a:pt x="0" y="23346"/>
                    <a:pt x="23346" y="0"/>
                    <a:pt x="52145" y="0"/>
                  </a:cubicBezTo>
                  <a:close/>
                </a:path>
              </a:pathLst>
            </a:custGeom>
            <a:solidFill>
              <a:srgbClr val="23539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502599" cy="689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061369" y="3886257"/>
            <a:ext cx="8470186" cy="2257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Conclusion:</a:t>
            </a:r>
          </a:p>
          <a:p>
            <a:pPr algn="just">
              <a:lnSpc>
                <a:spcPts val="2450"/>
              </a:lnSpc>
            </a:pPr>
            <a:r>
              <a:rPr lang="en-US" sz="17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Thiranex internship provided practical exposure to cybersecurity, security-tool development, and secure application concepts. The projects helped improve my programming, analytical, debugging, and problem-solving skills.</a:t>
            </a:r>
          </a:p>
          <a:p>
            <a:pPr algn="just">
              <a:lnSpc>
                <a:spcPts val="245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350281" y="6457517"/>
            <a:ext cx="7621233" cy="2494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4"/>
              </a:lnSpc>
            </a:pPr>
            <a:r>
              <a:rPr lang="en-US" sz="230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GitHub:</a:t>
            </a:r>
          </a:p>
          <a:p>
            <a:pPr algn="just">
              <a:lnSpc>
                <a:spcPts val="2819"/>
              </a:lnSpc>
            </a:pPr>
            <a:r>
              <a:rPr lang="en-US" sz="201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Username: krrish1211</a:t>
            </a:r>
          </a:p>
          <a:p>
            <a:pPr algn="just">
              <a:lnSpc>
                <a:spcPts val="2819"/>
              </a:lnSpc>
            </a:pPr>
            <a:r>
              <a:rPr lang="en-US" sz="201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Repository: 2025-29_Om_0995_3rdsem_CSE20</a:t>
            </a:r>
          </a:p>
          <a:p>
            <a:pPr algn="just">
              <a:lnSpc>
                <a:spcPts val="2819"/>
              </a:lnSpc>
            </a:pPr>
          </a:p>
          <a:p>
            <a:pPr algn="just">
              <a:lnSpc>
                <a:spcPts val="2819"/>
              </a:lnSpc>
            </a:pPr>
            <a:r>
              <a:rPr lang="en-US" sz="201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https://github.com/krrish1211/2025-29_Om_0995_3rdsem_CSE20</a:t>
            </a:r>
          </a:p>
          <a:p>
            <a:pPr algn="just">
              <a:lnSpc>
                <a:spcPts val="2819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422890" y="4135753"/>
            <a:ext cx="6623466" cy="5795533"/>
          </a:xfrm>
          <a:custGeom>
            <a:avLst/>
            <a:gdLst/>
            <a:ahLst/>
            <a:cxnLst/>
            <a:rect r="r" b="b" t="t" l="l"/>
            <a:pathLst>
              <a:path h="5795533" w="6623466">
                <a:moveTo>
                  <a:pt x="0" y="0"/>
                </a:moveTo>
                <a:lnTo>
                  <a:pt x="6623466" y="0"/>
                </a:lnTo>
                <a:lnTo>
                  <a:pt x="6623466" y="5795533"/>
                </a:lnTo>
                <a:lnTo>
                  <a:pt x="0" y="5795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36405" y="1247775"/>
            <a:ext cx="10231325" cy="415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19"/>
              </a:lnSpc>
            </a:pPr>
            <a:r>
              <a:rPr lang="en-US" b="true" sz="15352">
                <a:solidFill>
                  <a:srgbClr val="235396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836405" y="7790718"/>
            <a:ext cx="3358820" cy="555732"/>
          </a:xfrm>
          <a:custGeom>
            <a:avLst/>
            <a:gdLst/>
            <a:ahLst/>
            <a:cxnLst/>
            <a:rect r="r" b="b" t="t" l="l"/>
            <a:pathLst>
              <a:path h="555732" w="3358820">
                <a:moveTo>
                  <a:pt x="0" y="0"/>
                </a:moveTo>
                <a:lnTo>
                  <a:pt x="3358821" y="0"/>
                </a:lnTo>
                <a:lnTo>
                  <a:pt x="3358821" y="555732"/>
                </a:lnTo>
                <a:lnTo>
                  <a:pt x="0" y="555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36405" y="5840025"/>
            <a:ext cx="10792226" cy="81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77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OM BHUSHAN | 25SCS1003000995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798362" y="1559163"/>
            <a:ext cx="3358820" cy="555732"/>
          </a:xfrm>
          <a:custGeom>
            <a:avLst/>
            <a:gdLst/>
            <a:ahLst/>
            <a:cxnLst/>
            <a:rect r="r" b="b" t="t" l="l"/>
            <a:pathLst>
              <a:path h="555732" w="3358820">
                <a:moveTo>
                  <a:pt x="0" y="0"/>
                </a:moveTo>
                <a:lnTo>
                  <a:pt x="3358820" y="0"/>
                </a:lnTo>
                <a:lnTo>
                  <a:pt x="3358820" y="555732"/>
                </a:lnTo>
                <a:lnTo>
                  <a:pt x="0" y="555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DAHTleTA_XI</dc:identifier>
  <dcterms:modified xsi:type="dcterms:W3CDTF">2011-08-01T06:04:30Z</dcterms:modified>
  <cp:revision>1</cp:revision>
  <dc:title>im</dc:title>
</cp:coreProperties>
</file>